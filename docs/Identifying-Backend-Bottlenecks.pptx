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0"/>
            <a:ext cx="12191695" cy="12801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E8590C"/>
                </a:solidFill>
                <a:latin typeface="Calibri"/>
              </a:rPr>
              <a:t>BROWNBAG · BACKEND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698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Identifying Backend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Bottlenecks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463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000" b="0">
                <a:solidFill>
                  <a:srgbClr val="C7D0DA"/>
                </a:solidFill>
                <a:latin typeface="Calibri"/>
              </a:rPr>
              <a:t>Spotting technical AND process hurdles early — and turning them into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E8590C"/>
                </a:solidFill>
                <a:latin typeface="Calibri"/>
              </a:rPr>
              <a:t>Measure, don't guess.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1">
                <a:solidFill>
                  <a:srgbClr val="E8590C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What a bottleneck is, and a mental model to find one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Part 1 — Technical bottlenecks (with a live demo)</a:t>
            </a:r>
          </a:p>
          <a:p>
            <a:pPr algn="l" lvl="1">
              <a:lnSpc>
                <a:spcPct val="106000"/>
              </a:lnSpc>
              <a:spcAft>
                <a:spcPts val="900"/>
              </a:spcAft>
            </a:pPr>
            <a:r>
              <a:rPr sz="1600" b="0">
                <a:solidFill>
                  <a:srgbClr val="5B6672"/>
                </a:solidFill>
                <a:latin typeface="Calibri"/>
              </a:rPr>
              <a:t>–  </a:t>
            </a:r>
            <a:r>
              <a:rPr sz="1600" b="0">
                <a:solidFill>
                  <a:srgbClr val="5B6672"/>
                </a:solidFill>
                <a:latin typeface="Calibri"/>
              </a:rPr>
              <a:t>N+1 queries · the expensive single query</a:t>
            </a:r>
          </a:p>
          <a:p>
            <a:pPr algn="l" lvl="1">
              <a:lnSpc>
                <a:spcPct val="106000"/>
              </a:lnSpc>
              <a:spcAft>
                <a:spcPts val="900"/>
              </a:spcAft>
            </a:pPr>
            <a:r>
              <a:rPr sz="1600" b="0">
                <a:solidFill>
                  <a:srgbClr val="5B6672"/>
                </a:solidFill>
                <a:latin typeface="Calibri"/>
              </a:rPr>
              <a:t>–  </a:t>
            </a:r>
            <a:r>
              <a:rPr sz="1600" b="0">
                <a:solidFill>
                  <a:srgbClr val="5B6672"/>
                </a:solidFill>
                <a:latin typeface="Calibri"/>
              </a:rPr>
              <a:t>Measuring: query counts, timing, EXPLAIN, tracing, k6, golden signals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Part 2 — Process bottlenecks</a:t>
            </a:r>
          </a:p>
          <a:p>
            <a:pPr algn="l" lvl="1">
              <a:lnSpc>
                <a:spcPct val="106000"/>
              </a:lnSpc>
              <a:spcAft>
                <a:spcPts val="900"/>
              </a:spcAft>
            </a:pPr>
            <a:r>
              <a:rPr sz="1600" b="0">
                <a:solidFill>
                  <a:srgbClr val="5B6672"/>
                </a:solidFill>
                <a:latin typeface="Calibri"/>
              </a:rPr>
              <a:t>–  </a:t>
            </a:r>
            <a:r>
              <a:rPr sz="1600" b="0">
                <a:solidFill>
                  <a:srgbClr val="5B6672"/>
                </a:solidFill>
                <a:latin typeface="Calibri"/>
              </a:rPr>
              <a:t>Flow metrics · DORA · where delivery slows down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From insight to action + cheat sheet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000" b="0">
                <a:solidFill>
                  <a:srgbClr val="5B6672"/>
                </a:solidFill>
                <a:latin typeface="Calibri"/>
              </a:rPr>
              <a:t>Identifying Backend Bottlenecks  ·  Brownbag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5B667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1">
                <a:solidFill>
                  <a:srgbClr val="E8590C"/>
                </a:solidFill>
                <a:latin typeface="Calibri"/>
              </a:rPr>
              <a:t>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What you'll walk away with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A repeatable way to find the bottleneck instead of guessing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The most common backend technical bottlenecks and their fixes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Tools to prove it: response metrics, tracing, load tests, dashboards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Awareness that process is often the bigger bottleneck than code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A simple framework to turn an observation into a concrete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000" b="0">
                <a:solidFill>
                  <a:srgbClr val="5B6672"/>
                </a:solidFill>
                <a:latin typeface="Calibri"/>
              </a:rPr>
              <a:t>Identifying Backend Bottlenecks  ·  Brownbag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5B667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1">
                <a:solidFill>
                  <a:srgbClr val="E8590C"/>
                </a:solidFill>
                <a:latin typeface="Calibri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What is a bottleneck?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The single slowest stage that caps the whole system's throughput</a:t>
            </a:r>
          </a:p>
          <a:p>
            <a:pPr algn="l" lvl="1">
              <a:lnSpc>
                <a:spcPct val="106000"/>
              </a:lnSpc>
              <a:spcAft>
                <a:spcPts val="900"/>
              </a:spcAft>
            </a:pPr>
            <a:r>
              <a:rPr sz="1600" b="0">
                <a:solidFill>
                  <a:srgbClr val="5B6672"/>
                </a:solidFill>
                <a:latin typeface="Calibri"/>
              </a:rPr>
              <a:t>–  </a:t>
            </a:r>
            <a:r>
              <a:rPr sz="1600" b="0">
                <a:solidFill>
                  <a:srgbClr val="5B6672"/>
                </a:solidFill>
                <a:latin typeface="Calibri"/>
              </a:rPr>
              <a:t>Like a funnel: widening any other part changes nothing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Optimizing a non-bottleneck is wasted effort — it feels productive but moves no needle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Two truths:</a:t>
            </a:r>
          </a:p>
          <a:p>
            <a:pPr algn="l" lvl="1">
              <a:lnSpc>
                <a:spcPct val="106000"/>
              </a:lnSpc>
              <a:spcAft>
                <a:spcPts val="900"/>
              </a:spcAft>
            </a:pPr>
            <a:r>
              <a:rPr sz="1600" b="0">
                <a:solidFill>
                  <a:srgbClr val="5B6672"/>
                </a:solidFill>
                <a:latin typeface="Calibri"/>
              </a:rPr>
              <a:t>–  </a:t>
            </a:r>
            <a:r>
              <a:rPr sz="1600" b="0">
                <a:solidFill>
                  <a:srgbClr val="5B6672"/>
                </a:solidFill>
                <a:latin typeface="Calibri"/>
              </a:rPr>
              <a:t>It hides in small data — everything looks fine in dev, falls over at scale</a:t>
            </a:r>
          </a:p>
          <a:p>
            <a:pPr algn="l" lvl="1">
              <a:lnSpc>
                <a:spcPct val="106000"/>
              </a:lnSpc>
              <a:spcAft>
                <a:spcPts val="900"/>
              </a:spcAft>
            </a:pPr>
            <a:r>
              <a:rPr sz="1600" b="0">
                <a:solidFill>
                  <a:srgbClr val="5B6672"/>
                </a:solidFill>
                <a:latin typeface="Calibri"/>
              </a:rPr>
              <a:t>–  </a:t>
            </a:r>
            <a:r>
              <a:rPr sz="1600" b="0">
                <a:solidFill>
                  <a:srgbClr val="5B6672"/>
                </a:solidFill>
                <a:latin typeface="Calibri"/>
              </a:rPr>
              <a:t>It moves — fix one, the next slowest stage becomes the new bottleneck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806440"/>
            <a:ext cx="10835640" cy="548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85216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E8590C"/>
                </a:solidFill>
                <a:latin typeface="Calibri"/>
              </a:rPr>
              <a:t>→  </a:t>
            </a:r>
            <a:r>
              <a:rPr sz="1300" b="0">
                <a:solidFill>
                  <a:srgbClr val="1F2A37"/>
                </a:solidFill>
                <a:latin typeface="Calibri"/>
              </a:rPr>
              <a:t>Rule of thumb: find the slowest step first, fix it, then re-measure.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000" b="0">
                <a:solidFill>
                  <a:srgbClr val="5B6672"/>
                </a:solidFill>
                <a:latin typeface="Calibri"/>
              </a:rPr>
              <a:t>Identifying Backend Bottlenecks  ·  Brownbag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5B667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1">
                <a:solidFill>
                  <a:srgbClr val="E8590C"/>
                </a:solidFill>
                <a:latin typeface="Calibri"/>
              </a:rPr>
              <a:t>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Two kinds of bottlenecks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5349240" cy="54864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349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TECHNICAL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507492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>
                <a:solidFill>
                  <a:srgbClr val="E8590C"/>
                </a:solidFill>
                <a:latin typeface="Calibri"/>
              </a:rPr>
              <a:t>•  </a:t>
            </a:r>
            <a:r>
              <a:rPr sz="1600" b="1">
                <a:solidFill>
                  <a:srgbClr val="1F2A37"/>
                </a:solidFill>
                <a:latin typeface="Calibri"/>
              </a:rPr>
              <a:t>Lives in the code / system</a:t>
            </a:r>
          </a:p>
          <a:p>
            <a:pPr algn="l" lvl="1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5B6672"/>
                </a:solidFill>
                <a:latin typeface="Calibri"/>
              </a:rPr>
              <a:t>–  </a:t>
            </a:r>
            <a:r>
              <a:rPr sz="1400" b="0">
                <a:solidFill>
                  <a:srgbClr val="5B6672"/>
                </a:solidFill>
                <a:latin typeface="Calibri"/>
              </a:rPr>
              <a:t>Slow queries, N+1, missing indexes</a:t>
            </a:r>
          </a:p>
          <a:p>
            <a:pPr algn="l" lvl="1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5B6672"/>
                </a:solidFill>
                <a:latin typeface="Calibri"/>
              </a:rPr>
              <a:t>–  </a:t>
            </a:r>
            <a:r>
              <a:rPr sz="1400" b="0">
                <a:solidFill>
                  <a:srgbClr val="5B6672"/>
                </a:solidFill>
                <a:latin typeface="Calibri"/>
              </a:rPr>
              <a:t>No caching, blocking I/O, chatty calls</a:t>
            </a:r>
          </a:p>
          <a:p>
            <a:pPr algn="l" lvl="1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5B6672"/>
                </a:solidFill>
                <a:latin typeface="Calibri"/>
              </a:rPr>
              <a:t>–  </a:t>
            </a:r>
            <a:r>
              <a:rPr sz="1400" b="0">
                <a:solidFill>
                  <a:srgbClr val="5B6672"/>
                </a:solidFill>
                <a:latin typeface="Calibri"/>
              </a:rPr>
              <a:t>Connection-pool / memory limits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>
                <a:solidFill>
                  <a:srgbClr val="E8590C"/>
                </a:solidFill>
                <a:latin typeface="Calibri"/>
              </a:rPr>
              <a:t>•  </a:t>
            </a:r>
            <a:r>
              <a:rPr sz="1600" b="1">
                <a:solidFill>
                  <a:srgbClr val="1F2A37"/>
                </a:solidFill>
                <a:latin typeface="Calibri"/>
              </a:rPr>
              <a:t>Found with profiling, tracing, metrics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71600"/>
            <a:ext cx="5349240" cy="5486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371600"/>
            <a:ext cx="5349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07492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•  </a:t>
            </a:r>
            <a:r>
              <a:rPr sz="1600" b="1">
                <a:solidFill>
                  <a:srgbClr val="1F2A37"/>
                </a:solidFill>
                <a:latin typeface="Calibri"/>
              </a:rPr>
              <a:t>Lives in how we build &amp; ship</a:t>
            </a:r>
          </a:p>
          <a:p>
            <a:pPr algn="l" lvl="1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5B6672"/>
                </a:solidFill>
                <a:latin typeface="Calibri"/>
              </a:rPr>
              <a:t>–  </a:t>
            </a:r>
            <a:r>
              <a:rPr sz="1400" b="0">
                <a:solidFill>
                  <a:srgbClr val="5B6672"/>
                </a:solidFill>
                <a:latin typeface="Calibri"/>
              </a:rPr>
              <a:t>Slow code reviews, big PRs</a:t>
            </a:r>
          </a:p>
          <a:p>
            <a:pPr algn="l" lvl="1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5B6672"/>
                </a:solidFill>
                <a:latin typeface="Calibri"/>
              </a:rPr>
              <a:t>–  </a:t>
            </a:r>
            <a:r>
              <a:rPr sz="1400" b="0">
                <a:solidFill>
                  <a:srgbClr val="5B6672"/>
                </a:solidFill>
                <a:latin typeface="Calibri"/>
              </a:rPr>
              <a:t>Flaky / slow CI, manual deploys</a:t>
            </a:r>
          </a:p>
          <a:p>
            <a:pPr algn="l" lvl="1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5B6672"/>
                </a:solidFill>
                <a:latin typeface="Calibri"/>
              </a:rPr>
              <a:t>–  </a:t>
            </a:r>
            <a:r>
              <a:rPr sz="1400" b="0">
                <a:solidFill>
                  <a:srgbClr val="5B6672"/>
                </a:solidFill>
                <a:latin typeface="Calibri"/>
              </a:rPr>
              <a:t>Unclear requirements, handoffs, silos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•  </a:t>
            </a:r>
            <a:r>
              <a:rPr sz="1600" b="1">
                <a:solidFill>
                  <a:srgbClr val="1F2A37"/>
                </a:solidFill>
                <a:latin typeface="Calibri"/>
              </a:rPr>
              <a:t>Found with flow &amp; DORA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000" b="0">
                <a:solidFill>
                  <a:srgbClr val="5B6672"/>
                </a:solidFill>
                <a:latin typeface="Calibri"/>
              </a:rPr>
              <a:t>Identifying Backend Bottlenecks  ·  Brownbag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5B667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1">
                <a:solidFill>
                  <a:srgbClr val="E8590C"/>
                </a:solidFill>
                <a:latin typeface="Calibri"/>
              </a:rPr>
              <a:t>HOW TO THINK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A mental model: the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Observe — something feels slow, or an alert/SLO fires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Measure — attach a number (latency, p95, query count, lead time)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Locate — narrow to the one slowest stage (trace, profile, value-stream)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Fix — make the smallest change that moves that number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Verify — measure again; confirm it helped and didn't shift the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806440"/>
            <a:ext cx="10835640" cy="548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85216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E8590C"/>
                </a:solidFill>
                <a:latin typeface="Calibri"/>
              </a:rPr>
              <a:t>→  </a:t>
            </a:r>
            <a:r>
              <a:rPr sz="1300" b="0">
                <a:solidFill>
                  <a:srgbClr val="1F2A37"/>
                </a:solidFill>
                <a:latin typeface="Calibri"/>
              </a:rPr>
              <a:t>Observe → Measure → Locate → Fix → Verify. The discipline is measuring before and after.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000" b="0">
                <a:solidFill>
                  <a:srgbClr val="5B6672"/>
                </a:solidFill>
                <a:latin typeface="Calibri"/>
              </a:rPr>
              <a:t>Identifying Backend Bottlenecks  ·  Brownbag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5B667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1">
                <a:solidFill>
                  <a:srgbClr val="E8590C"/>
                </a:solidFill>
                <a:latin typeface="Calibri"/>
              </a:rPr>
              <a:t>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The golden signals (what to watch)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Latency — how long requests take; track p95/p99, not just average</a:t>
            </a:r>
          </a:p>
          <a:p>
            <a:pPr algn="l" lvl="1">
              <a:lnSpc>
                <a:spcPct val="106000"/>
              </a:lnSpc>
              <a:spcAft>
                <a:spcPts val="900"/>
              </a:spcAft>
            </a:pPr>
            <a:r>
              <a:rPr sz="1600" b="0">
                <a:solidFill>
                  <a:srgbClr val="5B6672"/>
                </a:solidFill>
                <a:latin typeface="Calibri"/>
              </a:rPr>
              <a:t>–  </a:t>
            </a:r>
            <a:r>
              <a:rPr sz="1600" b="0">
                <a:solidFill>
                  <a:srgbClr val="5B6672"/>
                </a:solidFill>
                <a:latin typeface="Calibri"/>
              </a:rPr>
              <a:t>Averages lie; the slow tail is where users feel pain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Traffic — how much demand (requests/sec)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Errors — rate of failed requests (5xx, timeouts)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Saturation — how full the resources are (CPU, memory, pool, queue)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806440"/>
            <a:ext cx="10835640" cy="548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85216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E8590C"/>
                </a:solidFill>
                <a:latin typeface="Calibri"/>
              </a:rPr>
              <a:t>→  </a:t>
            </a:r>
            <a:r>
              <a:rPr sz="1300" b="0">
                <a:solidFill>
                  <a:srgbClr val="1F2A37"/>
                </a:solidFill>
                <a:latin typeface="Calibri"/>
              </a:rPr>
              <a:t>If you only learn one number today: p95 latency.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000" b="0">
                <a:solidFill>
                  <a:srgbClr val="5B6672"/>
                </a:solidFill>
                <a:latin typeface="Calibri"/>
              </a:rPr>
              <a:t>Identifying Backend Bottlenecks  ·  Brownbag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5B667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788920"/>
            <a:ext cx="1463040" cy="10972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E8590C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Technical Bottlenecks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800" b="0">
                <a:solidFill>
                  <a:srgbClr val="C7D0DA"/>
                </a:solidFill>
                <a:latin typeface="Calibri"/>
              </a:rPr>
              <a:t>Live demo: a Spring Boot REST API with slow vs. fast twins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000" b="0">
                <a:solidFill>
                  <a:srgbClr val="5B6672"/>
                </a:solidFill>
                <a:latin typeface="Calibri"/>
              </a:rPr>
              <a:t>Identifying Backend Bottlenecks  ·  Brownbag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5B667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1">
                <a:solidFill>
                  <a:srgbClr val="E8590C"/>
                </a:solidFill>
                <a:latin typeface="Calibri"/>
              </a:rPr>
              <a:t>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Common backend technical bottlenecks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N+1 queries — one query per row instead of one query total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Expensive single query — correlated subqueries, missing indexes, full scans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No caching — recomputing or refetching the same data repeatedly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Chatty I/O — many small network/DB calls instead of a batch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Blocking work — sync calls that hog threads / the event loop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No pagination — loading everything when the user sees 20 rows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Resource limits — connection pool, memory, thread starvation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000" b="0">
                <a:solidFill>
                  <a:srgbClr val="5B6672"/>
                </a:solidFill>
                <a:latin typeface="Calibri"/>
              </a:rPr>
              <a:t>Identifying Backend Bottlenecks  ·  Brownbag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5B667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1">
                <a:solidFill>
                  <a:srgbClr val="E8590C"/>
                </a:solidFill>
                <a:latin typeface="Calibri"/>
              </a:rPr>
              <a:t>TOO MANY QUERIES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Deep dive 1 — the N+1 query problem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1083564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5166360"/>
                <a:gridCol w="237744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Cost (50 authors)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A37"/>
                          </a:solidFill>
                          <a:latin typeface="Calibri"/>
                        </a:rPr>
                        <a:t>GET /api/slow/authors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7"/>
                          </a:solidFill>
                          <a:latin typeface="Calibri"/>
                        </a:rPr>
                        <a:t>Load authors, then lazily load each one's books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7"/>
                          </a:solidFill>
                          <a:latin typeface="Calibri"/>
                        </a:rPr>
                        <a:t>51 queries (1 + 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A37"/>
                          </a:solidFill>
                          <a:latin typeface="Calibri"/>
                        </a:rPr>
                        <a:t>GET /api/fast/authors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7"/>
                          </a:solidFill>
                          <a:latin typeface="Calibri"/>
                        </a:rPr>
                        <a:t>Load authors + books in one JOIN FETCH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7"/>
                          </a:solidFill>
                          <a:latin typeface="Calibri"/>
                        </a:rPr>
                        <a:t>1 query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85800" y="5806440"/>
            <a:ext cx="10835640" cy="548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85216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E8590C"/>
                </a:solidFill>
                <a:latin typeface="Calibri"/>
              </a:rPr>
              <a:t>→  </a:t>
            </a:r>
            <a:r>
              <a:rPr sz="1300" b="0">
                <a:solidFill>
                  <a:srgbClr val="1F2A37"/>
                </a:solidFill>
                <a:latin typeface="Calibri"/>
              </a:rPr>
              <a:t>Symptom: query count scales with rows. Fix: JOIN FETCH / eager batch / DataLoader.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000" b="0">
                <a:solidFill>
                  <a:srgbClr val="5B6672"/>
                </a:solidFill>
                <a:latin typeface="Calibri"/>
              </a:rPr>
              <a:t>Identifying Backend Bottlenecks  ·  Brownbag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5B667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1">
                <a:solidFill>
                  <a:srgbClr val="E8590C"/>
                </a:solidFill>
                <a:latin typeface="Calibri"/>
              </a:rPr>
              <a:t>ONE QUERY, BUT HUGE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Deep dive 2 — the expensive single query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1083564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709160"/>
                <a:gridCol w="201168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Cost (8,000 sales)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A37"/>
                          </a:solidFill>
                          <a:latin typeface="Calibri"/>
                        </a:rPr>
                        <a:t>GET /api/slow-query/sales-ranking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7"/>
                          </a:solidFill>
                          <a:latin typeface="Calibri"/>
                        </a:rPr>
                        <a:t>Correlated subquery — re-scans table per row (O(N²))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7"/>
                          </a:solidFill>
                          <a:latin typeface="Calibri"/>
                        </a:rPr>
                        <a:t>1 query, ~2,200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A37"/>
                          </a:solidFill>
                          <a:latin typeface="Calibri"/>
                        </a:rPr>
                        <a:t>GET /api/fast-query/sales-ranking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7"/>
                          </a:solidFill>
                          <a:latin typeface="Calibri"/>
                        </a:rPr>
                        <a:t>RANK() OVER (...) window function (O(N log N))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7"/>
                          </a:solidFill>
                          <a:latin typeface="Calibri"/>
                        </a:rPr>
                        <a:t>1 query, ~50 ms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85800" y="5806440"/>
            <a:ext cx="10835640" cy="548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85216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E8590C"/>
                </a:solidFill>
                <a:latin typeface="Calibri"/>
              </a:rPr>
              <a:t>→  </a:t>
            </a:r>
            <a:r>
              <a:rPr sz="1300" b="0">
                <a:solidFill>
                  <a:srgbClr val="1F2A37"/>
                </a:solidFill>
                <a:latin typeface="Calibri"/>
              </a:rPr>
              <a:t>Same result, ~40x faster. It's ONE statement either way — only timing reveals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000" b="0">
                <a:solidFill>
                  <a:srgbClr val="5B6672"/>
                </a:solidFill>
                <a:latin typeface="Calibri"/>
              </a:rPr>
              <a:t>Identifying Backend Bottlenecks  ·  Brownbag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5B667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1">
                <a:solidFill>
                  <a:srgbClr val="E8590C"/>
                </a:solidFill>
                <a:latin typeface="Calibri"/>
              </a:rPr>
              <a:t>THE KEY LESSON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Count vs. cost — two different signals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5349240" cy="54864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349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N+1 (count)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507492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>
                <a:solidFill>
                  <a:srgbClr val="E8590C"/>
                </a:solidFill>
                <a:latin typeface="Calibri"/>
              </a:rPr>
              <a:t>•  </a:t>
            </a:r>
            <a:r>
              <a:rPr sz="1600" b="1">
                <a:solidFill>
                  <a:srgbClr val="1F2A37"/>
                </a:solidFill>
                <a:latin typeface="Calibri"/>
              </a:rPr>
              <a:t>Caught by query COUNT</a:t>
            </a:r>
          </a:p>
          <a:p>
            <a:pPr algn="l" lvl="1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5B6672"/>
                </a:solidFill>
                <a:latin typeface="Calibri"/>
              </a:rPr>
              <a:t>–  </a:t>
            </a:r>
            <a:r>
              <a:rPr sz="1400" b="0">
                <a:solidFill>
                  <a:srgbClr val="5B6672"/>
                </a:solidFill>
                <a:latin typeface="Calibri"/>
              </a:rPr>
              <a:t>X-Sql-Statements: 51</a:t>
            </a:r>
          </a:p>
          <a:p>
            <a:pPr algn="l" lvl="1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5B6672"/>
                </a:solidFill>
                <a:latin typeface="Calibri"/>
              </a:rPr>
              <a:t>–  </a:t>
            </a:r>
            <a:r>
              <a:rPr sz="1400" b="0">
                <a:solidFill>
                  <a:srgbClr val="5B6672"/>
                </a:solidFill>
                <a:latin typeface="Calibri"/>
              </a:rPr>
              <a:t>Many cheap statements</a:t>
            </a:r>
          </a:p>
          <a:p>
            <a:pPr algn="l" lvl="1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5B6672"/>
                </a:solidFill>
                <a:latin typeface="Calibri"/>
              </a:rPr>
              <a:t>–  </a:t>
            </a:r>
            <a:r>
              <a:rPr sz="1400" b="0">
                <a:solidFill>
                  <a:srgbClr val="5B6672"/>
                </a:solidFill>
                <a:latin typeface="Calibri"/>
              </a:rPr>
              <a:t>Fix in the data-access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71600"/>
            <a:ext cx="5349240" cy="5486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371600"/>
            <a:ext cx="5349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Slow query (cost)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07492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•  </a:t>
            </a:r>
            <a:r>
              <a:rPr sz="1600" b="1">
                <a:solidFill>
                  <a:srgbClr val="1F2A37"/>
                </a:solidFill>
                <a:latin typeface="Calibri"/>
              </a:rPr>
              <a:t>Caught by TIMING / EXPLAIN</a:t>
            </a:r>
          </a:p>
          <a:p>
            <a:pPr algn="l" lvl="1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5B6672"/>
                </a:solidFill>
                <a:latin typeface="Calibri"/>
              </a:rPr>
              <a:t>–  </a:t>
            </a:r>
            <a:r>
              <a:rPr sz="1400" b="0">
                <a:solidFill>
                  <a:srgbClr val="5B6672"/>
                </a:solidFill>
                <a:latin typeface="Calibri"/>
              </a:rPr>
              <a:t>X-Sql-Statements: 1 (looks fine!)</a:t>
            </a:r>
          </a:p>
          <a:p>
            <a:pPr algn="l" lvl="1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5B6672"/>
                </a:solidFill>
                <a:latin typeface="Calibri"/>
              </a:rPr>
              <a:t>–  </a:t>
            </a:r>
            <a:r>
              <a:rPr sz="1400" b="0">
                <a:solidFill>
                  <a:srgbClr val="5B6672"/>
                </a:solidFill>
                <a:latin typeface="Calibri"/>
              </a:rPr>
              <a:t>One internally huge statement</a:t>
            </a:r>
          </a:p>
          <a:p>
            <a:pPr algn="l" lvl="1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5B6672"/>
                </a:solidFill>
                <a:latin typeface="Calibri"/>
              </a:rPr>
              <a:t>–  </a:t>
            </a:r>
            <a:r>
              <a:rPr sz="1400" b="0">
                <a:solidFill>
                  <a:srgbClr val="5B6672"/>
                </a:solidFill>
                <a:latin typeface="Calibri"/>
              </a:rPr>
              <a:t>Fix the query / add an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000" b="0">
                <a:solidFill>
                  <a:srgbClr val="5B6672"/>
                </a:solidFill>
                <a:latin typeface="Calibri"/>
              </a:rPr>
              <a:t>Identifying Backend Bottlenecks  ·  Brownbag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5B667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1">
                <a:solidFill>
                  <a:srgbClr val="E8590C"/>
                </a:solidFill>
                <a:latin typeface="Calibri"/>
              </a:rPr>
              <a:t>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How to measure a technical bottleneck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Per-request signals — our demo adds headers:</a:t>
            </a:r>
          </a:p>
          <a:p>
            <a:pPr algn="l" lvl="1">
              <a:lnSpc>
                <a:spcPct val="106000"/>
              </a:lnSpc>
              <a:spcAft>
                <a:spcPts val="900"/>
              </a:spcAft>
            </a:pPr>
            <a:r>
              <a:rPr sz="1600" b="0">
                <a:solidFill>
                  <a:srgbClr val="5B6672"/>
                </a:solidFill>
                <a:latin typeface="Calibri"/>
              </a:rPr>
              <a:t>–  </a:t>
            </a:r>
            <a:r>
              <a:rPr sz="1600" b="0">
                <a:solidFill>
                  <a:srgbClr val="5B6672"/>
                </a:solidFill>
                <a:latin typeface="Calibri"/>
              </a:rPr>
              <a:t>X-Sql-Statements (how many queries) · X-Elapsed-Ms (how long)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EXPLAIN / EXPLAIN ANALYZE — read the query plan; look for full scans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Slow-query log — let the database tell you which statements hurt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Profiler / APM — find hot methods and slow downstream calls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Distributed tracing — see the slow span inside a real request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Load test (k6) — reveal what only appears under concurrency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000" b="0">
                <a:solidFill>
                  <a:srgbClr val="5B6672"/>
                </a:solidFill>
                <a:latin typeface="Calibri"/>
              </a:rPr>
              <a:t>Identifying Backend Bottlenecks  ·  Brownbag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5B667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1">
                <a:solidFill>
                  <a:srgbClr val="E8590C"/>
                </a:solidFill>
                <a:latin typeface="Calibri"/>
              </a:rPr>
              <a:t>SEE IT, DON'T GUESS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Distributed tracing — find the slowest span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Each request becomes a trace; spans show where time goes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Slow-query endpoint waterfall:</a:t>
            </a:r>
          </a:p>
          <a:p>
            <a:pPr algn="l" lvl="1">
              <a:lnSpc>
                <a:spcPct val="106000"/>
              </a:lnSpc>
              <a:spcAft>
                <a:spcPts val="900"/>
              </a:spcAft>
            </a:pPr>
            <a:r>
              <a:rPr sz="1600" b="0">
                <a:solidFill>
                  <a:srgbClr val="5B6672"/>
                </a:solidFill>
                <a:latin typeface="Calibri"/>
              </a:rPr>
              <a:t>–  </a:t>
            </a:r>
            <a:r>
              <a:rPr sz="1600" b="0">
                <a:solidFill>
                  <a:srgbClr val="5B6672"/>
                </a:solidFill>
                <a:latin typeface="Calibri"/>
              </a:rPr>
              <a:t>validate-request ~0 ms  ·  compute-summary / map-to-dto a few ms</a:t>
            </a:r>
          </a:p>
          <a:p>
            <a:pPr algn="l" lvl="1">
              <a:lnSpc>
                <a:spcPct val="106000"/>
              </a:lnSpc>
              <a:spcAft>
                <a:spcPts val="900"/>
              </a:spcAft>
            </a:pPr>
            <a:r>
              <a:rPr sz="1600" b="0">
                <a:solidFill>
                  <a:srgbClr val="5B6672"/>
                </a:solidFill>
                <a:latin typeface="Calibri"/>
              </a:rPr>
              <a:t>–  </a:t>
            </a:r>
            <a:r>
              <a:rPr sz="1600" b="0">
                <a:solidFill>
                  <a:srgbClr val="5B6672"/>
                </a:solidFill>
                <a:latin typeface="Calibri"/>
              </a:rPr>
              <a:t>load-ranking-slow ~2.1 s  ← one giant bar = the bottleneck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N+1 endpoint: one HTTP span with ~51 child SELECT spans stacked under it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Auto-instrumented HTTP + JDBC via the OpenTelemetry Java agent — no code changes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806440"/>
            <a:ext cx="10835640" cy="548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85216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E8590C"/>
                </a:solidFill>
                <a:latin typeface="Calibri"/>
              </a:rPr>
              <a:t>→  </a:t>
            </a:r>
            <a:r>
              <a:rPr sz="1300" b="0">
                <a:solidFill>
                  <a:srgbClr val="1F2A37"/>
                </a:solidFill>
                <a:latin typeface="Calibri"/>
              </a:rPr>
              <a:t>A trace answers 'where is the time inside ONE request?'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000" b="0">
                <a:solidFill>
                  <a:srgbClr val="5B6672"/>
                </a:solidFill>
                <a:latin typeface="Calibri"/>
              </a:rPr>
              <a:t>Identifying Backend Bottlenecks  ·  Brownbag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5B6672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1">
                <a:solidFill>
                  <a:srgbClr val="E8590C"/>
                </a:solidFill>
                <a:latin typeface="Calibri"/>
              </a:rPr>
              <a:t>UNDER 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Load testing with k6 — stress the bottleneck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One curl shows one request; bottlenecks hurt under concurrency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k6 ramps virtual users up, holds, ramps down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Compare p95/p99 between a slow endpoint and its fast twin</a:t>
            </a:r>
          </a:p>
          <a:p>
            <a:pPr algn="l" lvl="1">
              <a:lnSpc>
                <a:spcPct val="106000"/>
              </a:lnSpc>
              <a:spcAft>
                <a:spcPts val="900"/>
              </a:spcAft>
            </a:pPr>
            <a:r>
              <a:rPr sz="1600" b="0">
                <a:solidFill>
                  <a:srgbClr val="5B6672"/>
                </a:solidFill>
                <a:latin typeface="Calibri"/>
              </a:rPr>
              <a:t>–  </a:t>
            </a:r>
            <a:r>
              <a:rPr sz="1600" b="0">
                <a:solidFill>
                  <a:srgbClr val="5B6672"/>
                </a:solidFill>
                <a:latin typeface="Calibri"/>
              </a:rPr>
              <a:t>Slow endpoint's tail latency balloons; the fast one stays flat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k6 run -e TARGET=slow-sales k6/compare.js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Optional: stream results to Grafana Cloud k6 dashboards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806440"/>
            <a:ext cx="10835640" cy="548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85216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E8590C"/>
                </a:solidFill>
                <a:latin typeface="Calibri"/>
              </a:rPr>
              <a:t>→  </a:t>
            </a:r>
            <a:r>
              <a:rPr sz="1300" b="0">
                <a:solidFill>
                  <a:srgbClr val="1F2A37"/>
                </a:solidFill>
                <a:latin typeface="Calibri"/>
              </a:rPr>
              <a:t>A red 'p95 &lt; 500ms' threshold on the slow endpoint IS the lesson, not a bug.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000" b="0">
                <a:solidFill>
                  <a:srgbClr val="5B6672"/>
                </a:solidFill>
                <a:latin typeface="Calibri"/>
              </a:rPr>
              <a:t>Identifying Backend Bottlenecks  ·  Brownbag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5B6672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1">
                <a:solidFill>
                  <a:srgbClr val="E8590C"/>
                </a:solidFill>
                <a:latin typeface="Calibri"/>
              </a:rPr>
              <a:t>AGGREGATE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Golden signals in Grafana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Traces show one request; p95 is an aggregate that comes from METRICS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Our agent already ships traces + metrics + logs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Enable Application Observability to auto-build the RED dashboard:</a:t>
            </a:r>
          </a:p>
          <a:p>
            <a:pPr algn="l" lvl="1">
              <a:lnSpc>
                <a:spcPct val="106000"/>
              </a:lnSpc>
              <a:spcAft>
                <a:spcPts val="900"/>
              </a:spcAft>
            </a:pPr>
            <a:r>
              <a:rPr sz="1600" b="0">
                <a:solidFill>
                  <a:srgbClr val="5B6672"/>
                </a:solidFill>
                <a:latin typeface="Calibri"/>
              </a:rPr>
              <a:t>–  </a:t>
            </a:r>
            <a:r>
              <a:rPr sz="1600" b="0">
                <a:solidFill>
                  <a:srgbClr val="5B6672"/>
                </a:solidFill>
                <a:latin typeface="Calibri"/>
              </a:rPr>
              <a:t>Rate (req/s) · Errors (%) · Duration (p50 / p95 / p99) per route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Compare slow vs. fast endpoints side by side, in aggregate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806440"/>
            <a:ext cx="10835640" cy="548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85216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E8590C"/>
                </a:solidFill>
                <a:latin typeface="Calibri"/>
              </a:rPr>
              <a:t>→  </a:t>
            </a:r>
            <a:r>
              <a:rPr sz="1300" b="0">
                <a:solidFill>
                  <a:srgbClr val="1F2A37"/>
                </a:solidFill>
                <a:latin typeface="Calibri"/>
              </a:rPr>
              <a:t>Traces = where inside a request. App Observability / k6 = how bad p95 gets overall.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000" b="0">
                <a:solidFill>
                  <a:srgbClr val="5B6672"/>
                </a:solidFill>
                <a:latin typeface="Calibri"/>
              </a:rPr>
              <a:t>Identifying Backend Bottlenecks  ·  Brownbag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5B6672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1">
                <a:solidFill>
                  <a:srgbClr val="E8590C"/>
                </a:solidFill>
                <a:latin typeface="Calibri"/>
              </a:rPr>
              <a:t>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The live demo (try it yourself)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Spring Boot 4 + H2, seeded on startup — clone &amp; run, no external DB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Four endpoints: slow/fast for N+1, slow/fast for the heavy query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Compare headers:</a:t>
            </a:r>
          </a:p>
          <a:p>
            <a:pPr algn="l" lvl="1">
              <a:lnSpc>
                <a:spcPct val="106000"/>
              </a:lnSpc>
              <a:spcAft>
                <a:spcPts val="900"/>
              </a:spcAft>
            </a:pPr>
            <a:r>
              <a:rPr sz="1600" b="0">
                <a:solidFill>
                  <a:srgbClr val="5B6672"/>
                </a:solidFill>
                <a:latin typeface="Calibri"/>
              </a:rPr>
              <a:t>–  </a:t>
            </a:r>
            <a:r>
              <a:rPr sz="1600" b="0">
                <a:solidFill>
                  <a:srgbClr val="5B6672"/>
                </a:solidFill>
                <a:latin typeface="Calibri"/>
              </a:rPr>
              <a:t>curl -s -D - -o /dev/null .../api/slow-query/sales-ranking | grep X-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Run with tracing: ./scripts/run-with-tracing.sh → Grafana Cloud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Full walkthrough in the repo README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000" b="0">
                <a:solidFill>
                  <a:srgbClr val="5B6672"/>
                </a:solidFill>
                <a:latin typeface="Calibri"/>
              </a:rPr>
              <a:t>Identifying Backend Bottlenecks  ·  Brownbag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5B6672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1">
                <a:solidFill>
                  <a:srgbClr val="E8590C"/>
                </a:solidFill>
                <a:latin typeface="Calibri"/>
              </a:rPr>
              <a:t>TRANSFER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Same lesson, any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The demo is Java/Spring, but these map everywhere: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N+1 → NestJS/TypeORM relations or QueryBuilder joins; GraphQL DataLoader batching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Slow query → avoid correlated subqueries &amp; non-sargable filters; use window functions + indexes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Caching → Redis/Valkey for hot reads; cache invalidation discipline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Blocking → async/await, queues (SQS), background jobs off the request path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806440"/>
            <a:ext cx="10835640" cy="548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85216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E8590C"/>
                </a:solidFill>
                <a:latin typeface="Calibri"/>
              </a:rPr>
              <a:t>→  </a:t>
            </a:r>
            <a:r>
              <a:rPr sz="1300" b="0">
                <a:solidFill>
                  <a:srgbClr val="1F2A37"/>
                </a:solidFill>
                <a:latin typeface="Calibri"/>
              </a:rPr>
              <a:t>Read EXPLAIN, batch your I/O, cache the hot path, and keep work off the request thread.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000" b="0">
                <a:solidFill>
                  <a:srgbClr val="5B6672"/>
                </a:solidFill>
                <a:latin typeface="Calibri"/>
              </a:rPr>
              <a:t>Identifying Backend Bottlenecks  ·  Brownbag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5B6672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788920"/>
            <a:ext cx="1463040" cy="10972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E8590C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Process Bottlenecks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800" b="0">
                <a:solidFill>
                  <a:srgbClr val="C7D0DA"/>
                </a:solidFill>
                <a:latin typeface="Calibri"/>
              </a:rPr>
              <a:t>Often the code is fast — but the delivery pipeline is slow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000" b="0">
                <a:solidFill>
                  <a:srgbClr val="5B6672"/>
                </a:solidFill>
                <a:latin typeface="Calibri"/>
              </a:rPr>
              <a:t>Identifying Backend Bottlenecks  ·  Brownbag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5B6672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1">
                <a:solidFill>
                  <a:srgbClr val="E8590C"/>
                </a:solidFill>
                <a:latin typeface="Calibri"/>
              </a:rPr>
              <a:t>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Why process bottlenecks matter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Most lead time is spent WAITING, not coding</a:t>
            </a:r>
          </a:p>
          <a:p>
            <a:pPr algn="l" lvl="1">
              <a:lnSpc>
                <a:spcPct val="106000"/>
              </a:lnSpc>
              <a:spcAft>
                <a:spcPts val="900"/>
              </a:spcAft>
            </a:pPr>
            <a:r>
              <a:rPr sz="1600" b="0">
                <a:solidFill>
                  <a:srgbClr val="5B6672"/>
                </a:solidFill>
                <a:latin typeface="Calibri"/>
              </a:rPr>
              <a:t>–  </a:t>
            </a:r>
            <a:r>
              <a:rPr sz="1600" b="0">
                <a:solidFill>
                  <a:srgbClr val="5B6672"/>
                </a:solidFill>
                <a:latin typeface="Calibri"/>
              </a:rPr>
              <a:t>A 2-hour change can take 5 days to reach production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They're invisible in code reviews but obvious in the calendar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Symptoms: work 'almost done' for days, recurring crunch, blocked tickets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The fix is usually workflow, not effort or headcount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000" b="0">
                <a:solidFill>
                  <a:srgbClr val="5B6672"/>
                </a:solidFill>
                <a:latin typeface="Calibri"/>
              </a:rPr>
              <a:t>Identifying Backend Bottlenecks  ·  Brownbag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5B6672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1">
                <a:solidFill>
                  <a:srgbClr val="E8590C"/>
                </a:solidFill>
                <a:latin typeface="Calibri"/>
              </a:rPr>
              <a:t>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Common process bottlenecks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Unclear requirements — rework after the fact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Large PRs — slow, shallow reviews; risky merges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Slow code review — PRs waiting hours/days for a first look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Flaky or slow CI — long feedback loops, ignored failures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Manual / risky deploys — releases batched and feared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Handoffs &amp; silos — one person/team is a single point of contact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Too much WIP — everything in progress, nothing finished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000" b="0">
                <a:solidFill>
                  <a:srgbClr val="5B6672"/>
                </a:solidFill>
                <a:latin typeface="Calibri"/>
              </a:rPr>
              <a:t>Identifying Backend Bottlenecks  ·  Brownbag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5B6672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1">
                <a:solidFill>
                  <a:srgbClr val="E8590C"/>
                </a:solidFill>
                <a:latin typeface="Calibri"/>
              </a:rPr>
              <a:t>MEASURE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How to spot process bottlenecks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Make the invisible visible with flow metrics:</a:t>
            </a:r>
          </a:p>
          <a:p>
            <a:pPr algn="l" lvl="1">
              <a:lnSpc>
                <a:spcPct val="106000"/>
              </a:lnSpc>
              <a:spcAft>
                <a:spcPts val="900"/>
              </a:spcAft>
            </a:pPr>
            <a:r>
              <a:rPr sz="1600" b="0">
                <a:solidFill>
                  <a:srgbClr val="5B6672"/>
                </a:solidFill>
                <a:latin typeface="Calibri"/>
              </a:rPr>
              <a:t>–  </a:t>
            </a:r>
            <a:r>
              <a:rPr sz="1600" b="0">
                <a:solidFill>
                  <a:srgbClr val="5B6672"/>
                </a:solidFill>
                <a:latin typeface="Calibri"/>
              </a:rPr>
              <a:t>Lead time — idea/commit → production</a:t>
            </a:r>
          </a:p>
          <a:p>
            <a:pPr algn="l" lvl="1">
              <a:lnSpc>
                <a:spcPct val="106000"/>
              </a:lnSpc>
              <a:spcAft>
                <a:spcPts val="900"/>
              </a:spcAft>
            </a:pPr>
            <a:r>
              <a:rPr sz="1600" b="0">
                <a:solidFill>
                  <a:srgbClr val="5B6672"/>
                </a:solidFill>
                <a:latin typeface="Calibri"/>
              </a:rPr>
              <a:t>–  </a:t>
            </a:r>
            <a:r>
              <a:rPr sz="1600" b="0">
                <a:solidFill>
                  <a:srgbClr val="5B6672"/>
                </a:solidFill>
                <a:latin typeface="Calibri"/>
              </a:rPr>
              <a:t>Cycle time — work started → done</a:t>
            </a:r>
          </a:p>
          <a:p>
            <a:pPr algn="l" lvl="1">
              <a:lnSpc>
                <a:spcPct val="106000"/>
              </a:lnSpc>
              <a:spcAft>
                <a:spcPts val="900"/>
              </a:spcAft>
            </a:pPr>
            <a:r>
              <a:rPr sz="1600" b="0">
                <a:solidFill>
                  <a:srgbClr val="5B6672"/>
                </a:solidFill>
                <a:latin typeface="Calibri"/>
              </a:rPr>
              <a:t>–  </a:t>
            </a:r>
            <a:r>
              <a:rPr sz="1600" b="0">
                <a:solidFill>
                  <a:srgbClr val="5B6672"/>
                </a:solidFill>
                <a:latin typeface="Calibri"/>
              </a:rPr>
              <a:t>PR review time — opened → first review → merged</a:t>
            </a:r>
          </a:p>
          <a:p>
            <a:pPr algn="l" lvl="1">
              <a:lnSpc>
                <a:spcPct val="106000"/>
              </a:lnSpc>
              <a:spcAft>
                <a:spcPts val="900"/>
              </a:spcAft>
            </a:pPr>
            <a:r>
              <a:rPr sz="1600" b="0">
                <a:solidFill>
                  <a:srgbClr val="5B6672"/>
                </a:solidFill>
                <a:latin typeface="Calibri"/>
              </a:rPr>
              <a:t>–  </a:t>
            </a:r>
            <a:r>
              <a:rPr sz="1600" b="0">
                <a:solidFill>
                  <a:srgbClr val="5B6672"/>
                </a:solidFill>
                <a:latin typeface="Calibri"/>
              </a:rPr>
              <a:t>CI duration &amp; flake rate — pipeline speed and trust</a:t>
            </a:r>
          </a:p>
          <a:p>
            <a:pPr algn="l" lvl="1">
              <a:lnSpc>
                <a:spcPct val="106000"/>
              </a:lnSpc>
              <a:spcAft>
                <a:spcPts val="900"/>
              </a:spcAft>
            </a:pPr>
            <a:r>
              <a:rPr sz="1600" b="0">
                <a:solidFill>
                  <a:srgbClr val="5B6672"/>
                </a:solidFill>
                <a:latin typeface="Calibri"/>
              </a:rPr>
              <a:t>–  </a:t>
            </a:r>
            <a:r>
              <a:rPr sz="1600" b="0">
                <a:solidFill>
                  <a:srgbClr val="5B6672"/>
                </a:solidFill>
                <a:latin typeface="Calibri"/>
              </a:rPr>
              <a:t>WIP — how many things are in flight at once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Look for the stage where work piles up and waits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806440"/>
            <a:ext cx="10835640" cy="548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85216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E8590C"/>
                </a:solidFill>
                <a:latin typeface="Calibri"/>
              </a:rPr>
              <a:t>→  </a:t>
            </a:r>
            <a:r>
              <a:rPr sz="1300" b="0">
                <a:solidFill>
                  <a:srgbClr val="1F2A37"/>
                </a:solidFill>
                <a:latin typeface="Calibri"/>
              </a:rPr>
              <a:t>Same loop as code: Observe → Measure → Locate → Fix → Verify.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000" b="0">
                <a:solidFill>
                  <a:srgbClr val="5B6672"/>
                </a:solidFill>
                <a:latin typeface="Calibri"/>
              </a:rPr>
              <a:t>Identifying Backend Bottlenecks  ·  Brownbag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5B6672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1">
                <a:solidFill>
                  <a:srgbClr val="E8590C"/>
                </a:solidFill>
                <a:latin typeface="Calibri"/>
              </a:rPr>
              <a:t>INDUSTRY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DORA — four keys of delivery performance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108356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617720"/>
                <a:gridCol w="310896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What it measures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Improve by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A37"/>
                          </a:solidFill>
                          <a:latin typeface="Calibri"/>
                        </a:rPr>
                        <a:t>Deployment Frequency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7"/>
                          </a:solidFill>
                          <a:latin typeface="Calibri"/>
                        </a:rPr>
                        <a:t>How often you ship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7"/>
                          </a:solidFill>
                          <a:latin typeface="Calibri"/>
                        </a:rPr>
                        <a:t>Smaller batches, automation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A37"/>
                          </a:solidFill>
                          <a:latin typeface="Calibri"/>
                        </a:rPr>
                        <a:t>Lead Time for Changes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7"/>
                          </a:solidFill>
                          <a:latin typeface="Calibri"/>
                        </a:rPr>
                        <a:t>Commit → production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7"/>
                          </a:solidFill>
                          <a:latin typeface="Calibri"/>
                        </a:rPr>
                        <a:t>Trunk-based, fast CI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A37"/>
                          </a:solidFill>
                          <a:latin typeface="Calibri"/>
                        </a:rPr>
                        <a:t>Change Failure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7"/>
                          </a:solidFill>
                          <a:latin typeface="Calibri"/>
                        </a:rPr>
                        <a:t>% of deploys causing issues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7"/>
                          </a:solidFill>
                          <a:latin typeface="Calibri"/>
                        </a:rPr>
                        <a:t>Tests, smaller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A37"/>
                          </a:solidFill>
                          <a:latin typeface="Calibri"/>
                        </a:rPr>
                        <a:t>Time to Restore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7"/>
                          </a:solidFill>
                          <a:latin typeface="Calibri"/>
                        </a:rPr>
                        <a:t>How fast you recover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7"/>
                          </a:solidFill>
                          <a:latin typeface="Calibri"/>
                        </a:rPr>
                        <a:t>Monitoring, rollbacks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85800" y="5806440"/>
            <a:ext cx="10835640" cy="548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85216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E8590C"/>
                </a:solidFill>
                <a:latin typeface="Calibri"/>
              </a:rPr>
              <a:t>→  </a:t>
            </a:r>
            <a:r>
              <a:rPr sz="1300" b="0">
                <a:solidFill>
                  <a:srgbClr val="1F2A37"/>
                </a:solidFill>
                <a:latin typeface="Calibri"/>
              </a:rPr>
              <a:t>Speed and stability rise together — they are not a trade-off.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000" b="0">
                <a:solidFill>
                  <a:srgbClr val="5B6672"/>
                </a:solidFill>
                <a:latin typeface="Calibri"/>
              </a:rPr>
              <a:t>Identifying Backend Bottlenecks  ·  Brownbag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5B6672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1">
                <a:solidFill>
                  <a:srgbClr val="E8590C"/>
                </a:solidFill>
                <a:latin typeface="Calibri"/>
              </a:rPr>
              <a:t>THE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From insight to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Identify — name the one slowest stage (technical or process)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Quantify — attach a number and a baseline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Prioritize — rank by impact vs. effort; pick the biggest cheap win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Act — make one focused change (a code fix or a workflow change)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Verify — measure again; keep it if the number moved, revert if not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806440"/>
            <a:ext cx="10835640" cy="548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85216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E8590C"/>
                </a:solidFill>
                <a:latin typeface="Calibri"/>
              </a:rPr>
              <a:t>→  </a:t>
            </a:r>
            <a:r>
              <a:rPr sz="1300" b="0">
                <a:solidFill>
                  <a:srgbClr val="1F2A37"/>
                </a:solidFill>
                <a:latin typeface="Calibri"/>
              </a:rPr>
              <a:t>One change at a time, always measured. Write the before/after number in the PR.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000" b="0">
                <a:solidFill>
                  <a:srgbClr val="5B6672"/>
                </a:solidFill>
                <a:latin typeface="Calibri"/>
              </a:rPr>
              <a:t>Identifying Backend Bottlenecks  ·  Brownbag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5B6672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1">
                <a:solidFill>
                  <a:srgbClr val="E8590C"/>
                </a:solidFill>
                <a:latin typeface="Calibri"/>
              </a:rPr>
              <a:t>KEEP THIS HANDY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Cheat sheet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5349240" cy="54864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349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TECHNICAL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507492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>
                <a:solidFill>
                  <a:srgbClr val="E8590C"/>
                </a:solidFill>
                <a:latin typeface="Calibri"/>
              </a:rPr>
              <a:t>•  </a:t>
            </a:r>
            <a:r>
              <a:rPr sz="1600" b="1">
                <a:solidFill>
                  <a:srgbClr val="1F2A37"/>
                </a:solidFill>
                <a:latin typeface="Calibri"/>
              </a:rPr>
              <a:t>Check query COUNT and TIMING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>
                <a:solidFill>
                  <a:srgbClr val="E8590C"/>
                </a:solidFill>
                <a:latin typeface="Calibri"/>
              </a:rPr>
              <a:t>•  </a:t>
            </a:r>
            <a:r>
              <a:rPr sz="1600" b="1">
                <a:solidFill>
                  <a:srgbClr val="1F2A37"/>
                </a:solidFill>
                <a:latin typeface="Calibri"/>
              </a:rPr>
              <a:t>Read EXPLAIN before optimizing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>
                <a:solidFill>
                  <a:srgbClr val="E8590C"/>
                </a:solidFill>
                <a:latin typeface="Calibri"/>
              </a:rPr>
              <a:t>•  </a:t>
            </a:r>
            <a:r>
              <a:rPr sz="1600" b="1">
                <a:solidFill>
                  <a:srgbClr val="1F2A37"/>
                </a:solidFill>
                <a:latin typeface="Calibri"/>
              </a:rPr>
              <a:t>Batch I/O; avoid N+1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>
                <a:solidFill>
                  <a:srgbClr val="E8590C"/>
                </a:solidFill>
                <a:latin typeface="Calibri"/>
              </a:rPr>
              <a:t>•  </a:t>
            </a:r>
            <a:r>
              <a:rPr sz="1600" b="1">
                <a:solidFill>
                  <a:srgbClr val="1F2A37"/>
                </a:solidFill>
                <a:latin typeface="Calibri"/>
              </a:rPr>
              <a:t>Cache the hot path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>
                <a:solidFill>
                  <a:srgbClr val="E8590C"/>
                </a:solidFill>
                <a:latin typeface="Calibri"/>
              </a:rPr>
              <a:t>•  </a:t>
            </a:r>
            <a:r>
              <a:rPr sz="1600" b="1">
                <a:solidFill>
                  <a:srgbClr val="1F2A37"/>
                </a:solidFill>
                <a:latin typeface="Calibri"/>
              </a:rPr>
              <a:t>Trace to find the slow span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>
                <a:solidFill>
                  <a:srgbClr val="E8590C"/>
                </a:solidFill>
                <a:latin typeface="Calibri"/>
              </a:rPr>
              <a:t>•  </a:t>
            </a:r>
            <a:r>
              <a:rPr sz="1600" b="1">
                <a:solidFill>
                  <a:srgbClr val="1F2A37"/>
                </a:solidFill>
                <a:latin typeface="Calibri"/>
              </a:rPr>
              <a:t>Load test for p95 under load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71600"/>
            <a:ext cx="5349240" cy="5486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371600"/>
            <a:ext cx="5349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07492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•  </a:t>
            </a:r>
            <a:r>
              <a:rPr sz="1600" b="1">
                <a:solidFill>
                  <a:srgbClr val="1F2A37"/>
                </a:solidFill>
                <a:latin typeface="Calibri"/>
              </a:rPr>
              <a:t>Keep PRs small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•  </a:t>
            </a:r>
            <a:r>
              <a:rPr sz="1600" b="1">
                <a:solidFill>
                  <a:srgbClr val="1F2A37"/>
                </a:solidFill>
                <a:latin typeface="Calibri"/>
              </a:rPr>
              <a:t>Review fast; protect review time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•  </a:t>
            </a:r>
            <a:r>
              <a:rPr sz="1600" b="1">
                <a:solidFill>
                  <a:srgbClr val="1F2A37"/>
                </a:solidFill>
                <a:latin typeface="Calibri"/>
              </a:rPr>
              <a:t>Make CI fast and trustworthy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•  </a:t>
            </a:r>
            <a:r>
              <a:rPr sz="1600" b="1">
                <a:solidFill>
                  <a:srgbClr val="1F2A37"/>
                </a:solidFill>
                <a:latin typeface="Calibri"/>
              </a:rPr>
              <a:t>Automate deploys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•  </a:t>
            </a:r>
            <a:r>
              <a:rPr sz="1600" b="1">
                <a:solidFill>
                  <a:srgbClr val="1F2A37"/>
                </a:solidFill>
                <a:latin typeface="Calibri"/>
              </a:rPr>
              <a:t>Limit WIP; finish before starting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•  </a:t>
            </a:r>
            <a:r>
              <a:rPr sz="1600" b="1">
                <a:solidFill>
                  <a:srgbClr val="1F2A37"/>
                </a:solidFill>
                <a:latin typeface="Calibri"/>
              </a:rPr>
              <a:t>Track lead time &amp; DORA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000" b="0">
                <a:solidFill>
                  <a:srgbClr val="5B6672"/>
                </a:solidFill>
                <a:latin typeface="Calibri"/>
              </a:rPr>
              <a:t>Identifying Backend Bottlenecks  ·  Brownbag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5B6672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1">
                <a:solidFill>
                  <a:srgbClr val="E8590C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Measure, don't guess — turn 'feels slow' into a number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Fix the actual bottleneck; optimizing elsewhere is wasted effort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Count and cost are different signals — check both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The biggest win is often process, not code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2000" b="1">
                <a:solidFill>
                  <a:srgbClr val="E8590C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Make it a habit: Observe → Measure → Locate → Fix → Verify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000" b="0">
                <a:solidFill>
                  <a:srgbClr val="5B6672"/>
                </a:solidFill>
                <a:latin typeface="Calibri"/>
              </a:rPr>
              <a:t>Identifying Backend Bottlenecks  ·  Brownbag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5B6672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0"/>
            <a:ext cx="12191695" cy="12801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Thank you —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720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800" b="0">
                <a:solidFill>
                  <a:srgbClr val="C7D0DA"/>
                </a:solidFill>
                <a:latin typeface="Calibri"/>
              </a:rPr>
              <a:t>Demo repo: bottleneck-springboot (README has full setup)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>
                <a:solidFill>
                  <a:srgbClr val="C7D0DA"/>
                </a:solidFill>
                <a:latin typeface="Calibri"/>
              </a:rPr>
              <a:t>Clone it, run the slow vs. fast endpoints, and watch the numbers.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